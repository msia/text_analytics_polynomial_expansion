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86" d="100"/>
          <a:sy n="86" d="100"/>
        </p:scale>
        <p:origin x="33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725F-B44C-4B5D-B864-F4A2026AD2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2510E4-8083-4CB0-A4E5-33C9F83721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76C03-90F0-42B5-BA9C-74A08CC761F2}"/>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5" name="Footer Placeholder 4">
            <a:extLst>
              <a:ext uri="{FF2B5EF4-FFF2-40B4-BE49-F238E27FC236}">
                <a16:creationId xmlns:a16="http://schemas.microsoft.com/office/drawing/2014/main" id="{45656609-3AD4-4D8B-A906-72CD8CEE2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6B0AFE-933C-43A1-8542-3DF047057E58}"/>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064292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5E2D-ABF0-478A-B66E-9692F6FF12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6550A8-147A-4EA4-AC70-0FA157A63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14DA9F-F31D-4781-A115-BEF04C58B66F}"/>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5" name="Footer Placeholder 4">
            <a:extLst>
              <a:ext uri="{FF2B5EF4-FFF2-40B4-BE49-F238E27FC236}">
                <a16:creationId xmlns:a16="http://schemas.microsoft.com/office/drawing/2014/main" id="{B0AFC555-3151-424D-B15F-439A7715F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5AEB70-DBC9-4B71-9C5C-131392FC443B}"/>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864343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33FD2-26B3-4EA0-A64E-C53908AF8E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45451-228D-4A55-AFCA-997BF15BAD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CD0243-E73C-4780-8F36-45E2CBB169EA}"/>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5" name="Footer Placeholder 4">
            <a:extLst>
              <a:ext uri="{FF2B5EF4-FFF2-40B4-BE49-F238E27FC236}">
                <a16:creationId xmlns:a16="http://schemas.microsoft.com/office/drawing/2014/main" id="{5E15B6D0-8941-41DC-9581-99A69E154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BB31EC-80A6-489B-8F6D-3FB9B2FCE1CD}"/>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408897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8EE8-2E71-455D-8A60-A86C868546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71AAA8-3718-445B-90D9-104EFF6BE3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0AEF50-1D7B-4CFE-A6A9-D9740D9C61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AFC3C5-DF15-4578-B026-318B612B97B5}"/>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6" name="Footer Placeholder 5">
            <a:extLst>
              <a:ext uri="{FF2B5EF4-FFF2-40B4-BE49-F238E27FC236}">
                <a16:creationId xmlns:a16="http://schemas.microsoft.com/office/drawing/2014/main" id="{F0DD844B-21D7-4C72-8328-2C188032C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85FE23-26AE-4A15-9A8E-77C35664162B}"/>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58571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D896-E7E6-44DA-8381-9E1B9A788B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2A2271-5843-4AEE-9328-A60E220A2A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E63DE7-83CC-48FF-ADFF-A059C9FE23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15EE1A-2A2E-4F0D-98DA-9168F77377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A8E724-5C88-4341-825B-A81B67056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7356B4-1CB9-4593-B21B-0683ADAC615E}"/>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8" name="Footer Placeholder 7">
            <a:extLst>
              <a:ext uri="{FF2B5EF4-FFF2-40B4-BE49-F238E27FC236}">
                <a16:creationId xmlns:a16="http://schemas.microsoft.com/office/drawing/2014/main" id="{8D8DD99E-8A38-438E-A249-CE9E169A8E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8E4029-3B8A-4FA2-A84A-0E91CD8F664F}"/>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2381926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BBB8-2DEB-4928-8F62-3564356A19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FE58A0-D9DA-4467-A41C-CAB8C0BDDB6F}"/>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4" name="Footer Placeholder 3">
            <a:extLst>
              <a:ext uri="{FF2B5EF4-FFF2-40B4-BE49-F238E27FC236}">
                <a16:creationId xmlns:a16="http://schemas.microsoft.com/office/drawing/2014/main" id="{ADCDA12B-96CC-4FCC-8C20-0E22124C46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A76E6A-0C8D-43BB-929F-C1AD7E040233}"/>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3373865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B778C7-1383-408D-9DDC-022395380AC0}"/>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3" name="Footer Placeholder 2">
            <a:extLst>
              <a:ext uri="{FF2B5EF4-FFF2-40B4-BE49-F238E27FC236}">
                <a16:creationId xmlns:a16="http://schemas.microsoft.com/office/drawing/2014/main" id="{CA43C62D-A899-4360-8E25-EA8B5F524A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7FC633-90FF-4FDB-83B7-7864EAF51781}"/>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309235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1021-E040-4778-B1D5-E3DB69CEBE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93219C-AEFF-4579-AD96-8834D78BB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D2ADF7-E714-4573-83A7-360E231BC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6DB4E-80CE-401D-A9DE-DE39F5B830E3}"/>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6" name="Footer Placeholder 5">
            <a:extLst>
              <a:ext uri="{FF2B5EF4-FFF2-40B4-BE49-F238E27FC236}">
                <a16:creationId xmlns:a16="http://schemas.microsoft.com/office/drawing/2014/main" id="{DFD54AC5-3017-4099-8BEA-438AEF86A8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DED9E9-71A6-44D0-82F9-405F2EBE7D20}"/>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393436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8AB53-4B1A-4A12-985C-AE87ED9830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1356EF-597B-4C57-8857-84EB5FA8AE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320DCB-958B-465D-A67D-CCF94028D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AE506A-0916-4EA7-A8E4-EC7B626E1043}"/>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6" name="Footer Placeholder 5">
            <a:extLst>
              <a:ext uri="{FF2B5EF4-FFF2-40B4-BE49-F238E27FC236}">
                <a16:creationId xmlns:a16="http://schemas.microsoft.com/office/drawing/2014/main" id="{1589E91E-A266-47D4-8CB3-DDA7A96674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FF441-DC51-45B1-9EC7-096A2B12364E}"/>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2382702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8C5E3-E898-4F0F-8EA3-053E46CFC7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314853-CAF6-4D64-B302-EDAB15AD55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FD489A-79F4-4AB5-8831-953F5EBD0F76}"/>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5" name="Footer Placeholder 4">
            <a:extLst>
              <a:ext uri="{FF2B5EF4-FFF2-40B4-BE49-F238E27FC236}">
                <a16:creationId xmlns:a16="http://schemas.microsoft.com/office/drawing/2014/main" id="{7A25C217-31C2-4415-A387-E3A10F80DF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E8FBA-FE24-42DC-B6E2-F8B80C753D56}"/>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520082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FF752F-11CF-4511-9936-974412ECD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E3A92B-01B9-407D-98AA-D1629DB196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AA254-6A49-4098-B00F-553C8AD1526D}"/>
              </a:ext>
            </a:extLst>
          </p:cNvPr>
          <p:cNvSpPr>
            <a:spLocks noGrp="1"/>
          </p:cNvSpPr>
          <p:nvPr>
            <p:ph type="dt" sz="half" idx="10"/>
          </p:nvPr>
        </p:nvSpPr>
        <p:spPr/>
        <p:txBody>
          <a:bodyPr/>
          <a:lstStyle/>
          <a:p>
            <a:fld id="{D2F70B5D-38F1-4634-8193-5D71BAA1CE2A}" type="datetimeFigureOut">
              <a:rPr lang="en-US" smtClean="0"/>
              <a:t>11/19/2020</a:t>
            </a:fld>
            <a:endParaRPr lang="en-US"/>
          </a:p>
        </p:txBody>
      </p:sp>
      <p:sp>
        <p:nvSpPr>
          <p:cNvPr id="5" name="Footer Placeholder 4">
            <a:extLst>
              <a:ext uri="{FF2B5EF4-FFF2-40B4-BE49-F238E27FC236}">
                <a16:creationId xmlns:a16="http://schemas.microsoft.com/office/drawing/2014/main" id="{5D377B39-DA58-4C3B-B721-558A1ACD43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97EE2-7F76-4998-B706-F9378167D0DC}"/>
              </a:ext>
            </a:extLst>
          </p:cNvPr>
          <p:cNvSpPr>
            <a:spLocks noGrp="1"/>
          </p:cNvSpPr>
          <p:nvPr>
            <p:ph type="sldNum" sz="quarter" idx="12"/>
          </p:nvPr>
        </p:nvSpPr>
        <p:spPr/>
        <p:txBody>
          <a:bodyPr/>
          <a:lstStyle/>
          <a:p>
            <a:fld id="{F9CE3A1F-0D88-43FA-8356-6200EF40C8B5}" type="slidenum">
              <a:rPr lang="en-US" smtClean="0"/>
              <a:t>‹#›</a:t>
            </a:fld>
            <a:endParaRPr lang="en-US"/>
          </a:p>
        </p:txBody>
      </p:sp>
    </p:spTree>
    <p:extLst>
      <p:ext uri="{BB962C8B-B14F-4D97-AF65-F5344CB8AC3E}">
        <p14:creationId xmlns:p14="http://schemas.microsoft.com/office/powerpoint/2010/main" val="1299752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F95C8-5290-48C0-8244-3F2C954E64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82C73A-12BB-4650-A3D4-B48113C89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1D9676-A7E3-49FB-A584-B6F55E99E1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F70B5D-38F1-4634-8193-5D71BAA1CE2A}" type="datetimeFigureOut">
              <a:rPr lang="en-US" smtClean="0"/>
              <a:t>11/19/2020</a:t>
            </a:fld>
            <a:endParaRPr lang="en-US"/>
          </a:p>
        </p:txBody>
      </p:sp>
      <p:sp>
        <p:nvSpPr>
          <p:cNvPr id="5" name="Footer Placeholder 4">
            <a:extLst>
              <a:ext uri="{FF2B5EF4-FFF2-40B4-BE49-F238E27FC236}">
                <a16:creationId xmlns:a16="http://schemas.microsoft.com/office/drawing/2014/main" id="{11E3F9C7-9141-44F7-93ED-E9B8798229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B62A7A-1A75-4846-9592-AF69407DB1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CE3A1F-0D88-43FA-8356-6200EF40C8B5}" type="slidenum">
              <a:rPr lang="en-US" smtClean="0"/>
              <a:t>‹#›</a:t>
            </a:fld>
            <a:endParaRPr lang="en-US"/>
          </a:p>
        </p:txBody>
      </p:sp>
    </p:spTree>
    <p:extLst>
      <p:ext uri="{BB962C8B-B14F-4D97-AF65-F5344CB8AC3E}">
        <p14:creationId xmlns:p14="http://schemas.microsoft.com/office/powerpoint/2010/main" val="2779310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905BA41-EE6E-4F80-8636-447F22DD7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6E3B584-8F18-4F5A-9649-76F8DC5B2AE1}"/>
              </a:ext>
            </a:extLst>
          </p:cNvPr>
          <p:cNvSpPr>
            <a:spLocks noGrp="1"/>
          </p:cNvSpPr>
          <p:nvPr>
            <p:ph type="ctrTitle"/>
          </p:nvPr>
        </p:nvSpPr>
        <p:spPr>
          <a:xfrm>
            <a:off x="1848465" y="3336449"/>
            <a:ext cx="8495070" cy="1164450"/>
          </a:xfrm>
        </p:spPr>
        <p:txBody>
          <a:bodyPr anchor="b">
            <a:normAutofit/>
          </a:bodyPr>
          <a:lstStyle/>
          <a:p>
            <a:r>
              <a:rPr lang="en-US" b="1" dirty="0">
                <a:solidFill>
                  <a:srgbClr val="FFFFFF"/>
                </a:solidFill>
              </a:rPr>
              <a:t>Text Analytics Project</a:t>
            </a:r>
          </a:p>
        </p:txBody>
      </p:sp>
      <p:sp>
        <p:nvSpPr>
          <p:cNvPr id="3" name="Subtitle 2">
            <a:extLst>
              <a:ext uri="{FF2B5EF4-FFF2-40B4-BE49-F238E27FC236}">
                <a16:creationId xmlns:a16="http://schemas.microsoft.com/office/drawing/2014/main" id="{D13DE4D7-BF15-4FBB-BFE4-82618A1BFADE}"/>
              </a:ext>
            </a:extLst>
          </p:cNvPr>
          <p:cNvSpPr>
            <a:spLocks noGrp="1"/>
          </p:cNvSpPr>
          <p:nvPr>
            <p:ph type="subTitle" idx="1"/>
          </p:nvPr>
        </p:nvSpPr>
        <p:spPr>
          <a:xfrm>
            <a:off x="1848464" y="4807925"/>
            <a:ext cx="8728095" cy="1354931"/>
          </a:xfrm>
        </p:spPr>
        <p:txBody>
          <a:bodyPr>
            <a:normAutofit/>
          </a:bodyPr>
          <a:lstStyle/>
          <a:p>
            <a:r>
              <a:rPr lang="en-US" sz="3600" b="1" dirty="0">
                <a:solidFill>
                  <a:srgbClr val="FFFFFF"/>
                </a:solidFill>
              </a:rPr>
              <a:t>Polynomial Expansion </a:t>
            </a:r>
          </a:p>
          <a:p>
            <a:r>
              <a:rPr lang="en-US" sz="3600" dirty="0">
                <a:solidFill>
                  <a:srgbClr val="FFFFFF"/>
                </a:solidFill>
              </a:rPr>
              <a:t>Srividya Ganapathi</a:t>
            </a:r>
          </a:p>
        </p:txBody>
      </p:sp>
      <p:sp>
        <p:nvSpPr>
          <p:cNvPr id="12" name="Oval 11">
            <a:extLst>
              <a:ext uri="{FF2B5EF4-FFF2-40B4-BE49-F238E27FC236}">
                <a16:creationId xmlns:a16="http://schemas.microsoft.com/office/drawing/2014/main" id="{CD7549B2-EE05-4558-8C64-AC46755F2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5914" y="889251"/>
            <a:ext cx="2140172" cy="2140172"/>
          </a:xfrm>
          <a:prstGeom prst="ellipse">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Chat">
            <a:extLst>
              <a:ext uri="{FF2B5EF4-FFF2-40B4-BE49-F238E27FC236}">
                <a16:creationId xmlns:a16="http://schemas.microsoft.com/office/drawing/2014/main" id="{A0663D44-5DA7-4AD7-B53E-3A7692FFD1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8264" y="1371601"/>
            <a:ext cx="1175474" cy="1175474"/>
          </a:xfrm>
          <a:prstGeom prst="rect">
            <a:avLst/>
          </a:prstGeom>
        </p:spPr>
      </p:pic>
    </p:spTree>
    <p:extLst>
      <p:ext uri="{BB962C8B-B14F-4D97-AF65-F5344CB8AC3E}">
        <p14:creationId xmlns:p14="http://schemas.microsoft.com/office/powerpoint/2010/main" val="3996742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3CDB533-0F2C-4B8B-A078-86B1AE3EF30F}"/>
              </a:ext>
            </a:extLst>
          </p:cNvPr>
          <p:cNvSpPr/>
          <p:nvPr/>
        </p:nvSpPr>
        <p:spPr>
          <a:xfrm>
            <a:off x="591105" y="1689520"/>
            <a:ext cx="11225074" cy="106714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F7D0216-03D3-4ADA-94B8-0DE7387031A7}"/>
              </a:ext>
            </a:extLst>
          </p:cNvPr>
          <p:cNvSpPr>
            <a:spLocks noGrp="1"/>
          </p:cNvSpPr>
          <p:nvPr>
            <p:ph idx="1"/>
          </p:nvPr>
        </p:nvSpPr>
        <p:spPr>
          <a:xfrm>
            <a:off x="591105" y="1689520"/>
            <a:ext cx="11009790" cy="1067144"/>
          </a:xfrm>
        </p:spPr>
        <p:txBody>
          <a:bodyPr>
            <a:normAutofit fontScale="92500"/>
          </a:bodyPr>
          <a:lstStyle/>
          <a:p>
            <a:pPr marL="0" indent="0" algn="just">
              <a:buNone/>
            </a:pPr>
            <a:r>
              <a:rPr lang="en-US" sz="2400" dirty="0">
                <a:solidFill>
                  <a:schemeClr val="bg1"/>
                </a:solidFill>
              </a:rPr>
              <a:t>My objective is to implement a deep learning model that learns to expand single variable polynomials, where the model takes the factorized sequence as input and predicts the expanded sequence as output without parsing or using rule-based methods.</a:t>
            </a:r>
          </a:p>
        </p:txBody>
      </p:sp>
      <p:sp>
        <p:nvSpPr>
          <p:cNvPr id="8" name="TextBox 7">
            <a:extLst>
              <a:ext uri="{FF2B5EF4-FFF2-40B4-BE49-F238E27FC236}">
                <a16:creationId xmlns:a16="http://schemas.microsoft.com/office/drawing/2014/main" id="{54AA49E5-AA4B-4C7E-8AAA-B21AD2AA7C0A}"/>
              </a:ext>
            </a:extLst>
          </p:cNvPr>
          <p:cNvSpPr txBox="1"/>
          <p:nvPr/>
        </p:nvSpPr>
        <p:spPr>
          <a:xfrm>
            <a:off x="591105" y="545198"/>
            <a:ext cx="4859784" cy="769441"/>
          </a:xfrm>
          <a:prstGeom prst="rect">
            <a:avLst/>
          </a:prstGeom>
          <a:noFill/>
        </p:spPr>
        <p:txBody>
          <a:bodyPr wrap="square" rtlCol="0">
            <a:spAutoFit/>
          </a:bodyPr>
          <a:lstStyle/>
          <a:p>
            <a:r>
              <a:rPr lang="en-US" sz="4400" u="sng" dirty="0"/>
              <a:t>Problem Statement</a:t>
            </a:r>
          </a:p>
        </p:txBody>
      </p:sp>
      <p:sp>
        <p:nvSpPr>
          <p:cNvPr id="10" name="TextBox 9">
            <a:extLst>
              <a:ext uri="{FF2B5EF4-FFF2-40B4-BE49-F238E27FC236}">
                <a16:creationId xmlns:a16="http://schemas.microsoft.com/office/drawing/2014/main" id="{CF45422D-66CF-44F1-A218-BCC02407F2CF}"/>
              </a:ext>
            </a:extLst>
          </p:cNvPr>
          <p:cNvSpPr txBox="1"/>
          <p:nvPr/>
        </p:nvSpPr>
        <p:spPr>
          <a:xfrm>
            <a:off x="591105" y="3401137"/>
            <a:ext cx="2160973" cy="523220"/>
          </a:xfrm>
          <a:prstGeom prst="rect">
            <a:avLst/>
          </a:prstGeom>
          <a:noFill/>
        </p:spPr>
        <p:txBody>
          <a:bodyPr wrap="square" rtlCol="0">
            <a:spAutoFit/>
          </a:bodyPr>
          <a:lstStyle/>
          <a:p>
            <a:r>
              <a:rPr lang="en-US" sz="2800" u="sng" dirty="0"/>
              <a:t>Examples</a:t>
            </a:r>
          </a:p>
        </p:txBody>
      </p:sp>
      <p:graphicFrame>
        <p:nvGraphicFramePr>
          <p:cNvPr id="31" name="Table 31">
            <a:extLst>
              <a:ext uri="{FF2B5EF4-FFF2-40B4-BE49-F238E27FC236}">
                <a16:creationId xmlns:a16="http://schemas.microsoft.com/office/drawing/2014/main" id="{769032C6-4EAA-42AC-9845-936E49780EB1}"/>
              </a:ext>
            </a:extLst>
          </p:cNvPr>
          <p:cNvGraphicFramePr>
            <a:graphicFrameLocks noGrp="1"/>
          </p:cNvGraphicFramePr>
          <p:nvPr>
            <p:extLst>
              <p:ext uri="{D42A27DB-BD31-4B8C-83A1-F6EECF244321}">
                <p14:modId xmlns:p14="http://schemas.microsoft.com/office/powerpoint/2010/main" val="2729567179"/>
              </p:ext>
            </p:extLst>
          </p:nvPr>
        </p:nvGraphicFramePr>
        <p:xfrm>
          <a:off x="591105" y="4360793"/>
          <a:ext cx="11009790" cy="1483360"/>
        </p:xfrm>
        <a:graphic>
          <a:graphicData uri="http://schemas.openxmlformats.org/drawingml/2006/table">
            <a:tbl>
              <a:tblPr firstRow="1" bandRow="1">
                <a:tableStyleId>{5C22544A-7EE6-4342-B048-85BDC9FD1C3A}</a:tableStyleId>
              </a:tblPr>
              <a:tblGrid>
                <a:gridCol w="4318246">
                  <a:extLst>
                    <a:ext uri="{9D8B030D-6E8A-4147-A177-3AD203B41FA5}">
                      <a16:colId xmlns:a16="http://schemas.microsoft.com/office/drawing/2014/main" val="837846038"/>
                    </a:ext>
                  </a:extLst>
                </a:gridCol>
                <a:gridCol w="3021614">
                  <a:extLst>
                    <a:ext uri="{9D8B030D-6E8A-4147-A177-3AD203B41FA5}">
                      <a16:colId xmlns:a16="http://schemas.microsoft.com/office/drawing/2014/main" val="3798799993"/>
                    </a:ext>
                  </a:extLst>
                </a:gridCol>
                <a:gridCol w="3669930">
                  <a:extLst>
                    <a:ext uri="{9D8B030D-6E8A-4147-A177-3AD203B41FA5}">
                      <a16:colId xmlns:a16="http://schemas.microsoft.com/office/drawing/2014/main" val="68326623"/>
                    </a:ext>
                  </a:extLst>
                </a:gridCol>
              </a:tblGrid>
              <a:tr h="370840">
                <a:tc>
                  <a:txBody>
                    <a:bodyPr/>
                    <a:lstStyle/>
                    <a:p>
                      <a:r>
                        <a:rPr lang="en-US" dirty="0"/>
                        <a:t>Datapoint</a:t>
                      </a:r>
                    </a:p>
                  </a:txBody>
                  <a:tcPr>
                    <a:solidFill>
                      <a:schemeClr val="accent1">
                        <a:lumMod val="75000"/>
                      </a:schemeClr>
                    </a:solidFill>
                  </a:tcPr>
                </a:tc>
                <a:tc>
                  <a:txBody>
                    <a:bodyPr/>
                    <a:lstStyle/>
                    <a:p>
                      <a:r>
                        <a:rPr lang="en-US" dirty="0"/>
                        <a:t>Factorized Input</a:t>
                      </a:r>
                    </a:p>
                  </a:txBody>
                  <a:tcPr>
                    <a:solidFill>
                      <a:schemeClr val="accent1">
                        <a:lumMod val="75000"/>
                      </a:schemeClr>
                    </a:solidFill>
                  </a:tcPr>
                </a:tc>
                <a:tc>
                  <a:txBody>
                    <a:bodyPr/>
                    <a:lstStyle/>
                    <a:p>
                      <a:r>
                        <a:rPr lang="en-US" dirty="0"/>
                        <a:t>Expanded Output</a:t>
                      </a:r>
                    </a:p>
                  </a:txBody>
                  <a:tcPr>
                    <a:solidFill>
                      <a:schemeClr val="accent1">
                        <a:lumMod val="75000"/>
                      </a:schemeClr>
                    </a:solidFill>
                  </a:tcPr>
                </a:tc>
                <a:extLst>
                  <a:ext uri="{0D108BD9-81ED-4DB2-BD59-A6C34878D82A}">
                    <a16:rowId xmlns:a16="http://schemas.microsoft.com/office/drawing/2014/main" val="32813230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Arial" panose="020B0604020202020204" pitchFamily="34" charset="0"/>
                        </a:rPr>
                        <a:t>n*(n-11) = n**2-11*n</a:t>
                      </a:r>
                    </a:p>
                  </a:txBody>
                  <a:tcPr/>
                </a:tc>
                <a:tc>
                  <a:txBody>
                    <a:bodyPr/>
                    <a:lstStyle/>
                    <a:p>
                      <a:r>
                        <a:rPr lang="en-US" b="0" i="0" dirty="0">
                          <a:solidFill>
                            <a:srgbClr val="222222"/>
                          </a:solidFill>
                          <a:effectLst/>
                          <a:latin typeface="Arial" panose="020B0604020202020204" pitchFamily="34" charset="0"/>
                        </a:rPr>
                        <a:t>n*(n-11)</a:t>
                      </a:r>
                      <a:endParaRPr lang="en-US" dirty="0"/>
                    </a:p>
                  </a:txBody>
                  <a:tcPr/>
                </a:tc>
                <a:tc>
                  <a:txBody>
                    <a:bodyPr/>
                    <a:lstStyle/>
                    <a:p>
                      <a:r>
                        <a:rPr lang="en-US" b="0" i="0" dirty="0">
                          <a:solidFill>
                            <a:srgbClr val="222222"/>
                          </a:solidFill>
                          <a:effectLst/>
                          <a:latin typeface="Arial" panose="020B0604020202020204" pitchFamily="34" charset="0"/>
                        </a:rPr>
                        <a:t>n**2-11*n</a:t>
                      </a:r>
                      <a:endParaRPr lang="en-US" dirty="0"/>
                    </a:p>
                  </a:txBody>
                  <a:tcPr/>
                </a:tc>
                <a:extLst>
                  <a:ext uri="{0D108BD9-81ED-4DB2-BD59-A6C34878D82A}">
                    <a16:rowId xmlns:a16="http://schemas.microsoft.com/office/drawing/2014/main" val="23879395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0" i="0" dirty="0">
                          <a:solidFill>
                            <a:srgbClr val="222222"/>
                          </a:solidFill>
                          <a:effectLst/>
                          <a:latin typeface="Arial" panose="020B0604020202020204" pitchFamily="34" charset="0"/>
                        </a:rPr>
                        <a:t>(2*tan(s)-3)*tan(s) = 2 *tan(s)**2-3*tan(s)</a:t>
                      </a:r>
                    </a:p>
                  </a:txBody>
                  <a:tcPr/>
                </a:tc>
                <a:tc>
                  <a:txBody>
                    <a:bodyPr/>
                    <a:lstStyle/>
                    <a:p>
                      <a:r>
                        <a:rPr lang="es-ES" b="0" i="0" dirty="0">
                          <a:solidFill>
                            <a:srgbClr val="222222"/>
                          </a:solidFill>
                          <a:effectLst/>
                          <a:latin typeface="Arial" panose="020B0604020202020204" pitchFamily="34" charset="0"/>
                        </a:rPr>
                        <a:t>(2*tan(s)-3)*tan(s) </a:t>
                      </a:r>
                      <a:endParaRPr lang="en-US" dirty="0"/>
                    </a:p>
                  </a:txBody>
                  <a:tcPr/>
                </a:tc>
                <a:tc>
                  <a:txBody>
                    <a:bodyPr/>
                    <a:lstStyle/>
                    <a:p>
                      <a:r>
                        <a:rPr lang="es-ES" b="0" i="0" dirty="0">
                          <a:solidFill>
                            <a:srgbClr val="222222"/>
                          </a:solidFill>
                          <a:effectLst/>
                          <a:latin typeface="Arial" panose="020B0604020202020204" pitchFamily="34" charset="0"/>
                        </a:rPr>
                        <a:t>2 *tan(s)**2-3*tan(s)</a:t>
                      </a:r>
                      <a:endParaRPr lang="en-US" dirty="0"/>
                    </a:p>
                  </a:txBody>
                  <a:tcPr/>
                </a:tc>
                <a:extLst>
                  <a:ext uri="{0D108BD9-81ED-4DB2-BD59-A6C34878D82A}">
                    <a16:rowId xmlns:a16="http://schemas.microsoft.com/office/drawing/2014/main" val="9117519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222222"/>
                          </a:solidFill>
                          <a:effectLst/>
                          <a:latin typeface="Arial" panose="020B0604020202020204" pitchFamily="34" charset="0"/>
                        </a:rPr>
                        <a:t>-2*z**2</a:t>
                      </a:r>
                      <a:r>
                        <a:rPr lang="en-US" b="0" i="0" dirty="0">
                          <a:solidFill>
                            <a:srgbClr val="222222"/>
                          </a:solidFill>
                          <a:effectLst/>
                          <a:latin typeface="Arial" panose="020B0604020202020204" pitchFamily="34" charset="0"/>
                        </a:rPr>
                        <a:t> </a:t>
                      </a:r>
                      <a:r>
                        <a:rPr lang="pl-PL" b="0" i="0" dirty="0">
                          <a:solidFill>
                            <a:srgbClr val="222222"/>
                          </a:solidFill>
                          <a:effectLst/>
                          <a:latin typeface="Arial" panose="020B0604020202020204" pitchFamily="34" charset="0"/>
                        </a:rPr>
                        <a:t>=</a:t>
                      </a:r>
                      <a:r>
                        <a:rPr lang="en-US" b="0" i="0" dirty="0">
                          <a:solidFill>
                            <a:srgbClr val="222222"/>
                          </a:solidFill>
                          <a:effectLst/>
                          <a:latin typeface="Arial" panose="020B0604020202020204" pitchFamily="34" charset="0"/>
                        </a:rPr>
                        <a:t> -</a:t>
                      </a:r>
                      <a:r>
                        <a:rPr lang="pl-PL" b="0" i="0" dirty="0">
                          <a:solidFill>
                            <a:srgbClr val="222222"/>
                          </a:solidFill>
                          <a:effectLst/>
                          <a:latin typeface="Arial" panose="020B0604020202020204" pitchFamily="34" charset="0"/>
                        </a:rPr>
                        <a:t>2*z**2</a:t>
                      </a:r>
                      <a:endParaRPr lang="es-ES" b="0" i="0" dirty="0">
                        <a:solidFill>
                          <a:srgbClr val="222222"/>
                        </a:solidFill>
                        <a:effectLst/>
                        <a:latin typeface="Arial" panose="020B0604020202020204" pitchFamily="34" charset="0"/>
                      </a:endParaRPr>
                    </a:p>
                  </a:txBody>
                  <a:tcPr/>
                </a:tc>
                <a:tc>
                  <a:txBody>
                    <a:bodyPr/>
                    <a:lstStyle/>
                    <a:p>
                      <a:r>
                        <a:rPr lang="pl-PL" b="0" i="0" dirty="0">
                          <a:solidFill>
                            <a:srgbClr val="222222"/>
                          </a:solidFill>
                          <a:effectLst/>
                          <a:latin typeface="Arial" panose="020B0604020202020204" pitchFamily="34" charset="0"/>
                        </a:rPr>
                        <a:t>-2*z**2</a:t>
                      </a:r>
                      <a:endParaRPr lang="en-US" dirty="0"/>
                    </a:p>
                  </a:txBody>
                  <a:tcPr/>
                </a:tc>
                <a:tc>
                  <a:txBody>
                    <a:bodyPr/>
                    <a:lstStyle/>
                    <a:p>
                      <a:r>
                        <a:rPr lang="en-US" b="0" i="0" dirty="0">
                          <a:solidFill>
                            <a:srgbClr val="222222"/>
                          </a:solidFill>
                          <a:effectLst/>
                          <a:latin typeface="Arial" panose="020B0604020202020204" pitchFamily="34" charset="0"/>
                        </a:rPr>
                        <a:t>-</a:t>
                      </a:r>
                      <a:r>
                        <a:rPr lang="pl-PL" b="0" i="0" dirty="0">
                          <a:solidFill>
                            <a:srgbClr val="222222"/>
                          </a:solidFill>
                          <a:effectLst/>
                          <a:latin typeface="Arial" panose="020B0604020202020204" pitchFamily="34" charset="0"/>
                        </a:rPr>
                        <a:t>2*z**2</a:t>
                      </a:r>
                      <a:endParaRPr lang="en-US" dirty="0"/>
                    </a:p>
                  </a:txBody>
                  <a:tcPr/>
                </a:tc>
                <a:extLst>
                  <a:ext uri="{0D108BD9-81ED-4DB2-BD59-A6C34878D82A}">
                    <a16:rowId xmlns:a16="http://schemas.microsoft.com/office/drawing/2014/main" val="1842540568"/>
                  </a:ext>
                </a:extLst>
              </a:tr>
            </a:tbl>
          </a:graphicData>
        </a:graphic>
      </p:graphicFrame>
    </p:spTree>
    <p:extLst>
      <p:ext uri="{BB962C8B-B14F-4D97-AF65-F5344CB8AC3E}">
        <p14:creationId xmlns:p14="http://schemas.microsoft.com/office/powerpoint/2010/main" val="597722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A75AF-CA84-4FBD-AF09-4972745C051E}"/>
              </a:ext>
            </a:extLst>
          </p:cNvPr>
          <p:cNvSpPr>
            <a:spLocks noGrp="1"/>
          </p:cNvSpPr>
          <p:nvPr>
            <p:ph type="title"/>
          </p:nvPr>
        </p:nvSpPr>
        <p:spPr/>
        <p:txBody>
          <a:bodyPr/>
          <a:lstStyle/>
          <a:p>
            <a:r>
              <a:rPr lang="en-US" u="sng" dirty="0">
                <a:latin typeface="+mn-lt"/>
              </a:rPr>
              <a:t>Project Flow</a:t>
            </a:r>
          </a:p>
        </p:txBody>
      </p:sp>
      <p:sp>
        <p:nvSpPr>
          <p:cNvPr id="4" name="TextBox 3">
            <a:extLst>
              <a:ext uri="{FF2B5EF4-FFF2-40B4-BE49-F238E27FC236}">
                <a16:creationId xmlns:a16="http://schemas.microsoft.com/office/drawing/2014/main" id="{616C5DF1-FE69-4063-BA6B-4DA21F5FC5B8}"/>
              </a:ext>
            </a:extLst>
          </p:cNvPr>
          <p:cNvSpPr txBox="1"/>
          <p:nvPr/>
        </p:nvSpPr>
        <p:spPr>
          <a:xfrm>
            <a:off x="1324148" y="2999184"/>
            <a:ext cx="2531228" cy="646331"/>
          </a:xfrm>
          <a:prstGeom prst="rect">
            <a:avLst/>
          </a:prstGeom>
          <a:noFill/>
          <a:ln w="28575">
            <a:solidFill>
              <a:schemeClr val="tx1"/>
            </a:solidFill>
          </a:ln>
        </p:spPr>
        <p:txBody>
          <a:bodyPr wrap="square" rtlCol="0">
            <a:spAutoFit/>
          </a:bodyPr>
          <a:lstStyle/>
          <a:p>
            <a:r>
              <a:rPr lang="en-US" dirty="0"/>
              <a:t>Clean Data and Tokenize input and output</a:t>
            </a:r>
          </a:p>
        </p:txBody>
      </p:sp>
      <p:sp>
        <p:nvSpPr>
          <p:cNvPr id="7" name="Arrow: Right 6">
            <a:extLst>
              <a:ext uri="{FF2B5EF4-FFF2-40B4-BE49-F238E27FC236}">
                <a16:creationId xmlns:a16="http://schemas.microsoft.com/office/drawing/2014/main" id="{14E86BA9-AAE6-41AC-89B6-1DE4F745ECFF}"/>
              </a:ext>
            </a:extLst>
          </p:cNvPr>
          <p:cNvSpPr/>
          <p:nvPr/>
        </p:nvSpPr>
        <p:spPr>
          <a:xfrm>
            <a:off x="4050067" y="5814428"/>
            <a:ext cx="572693" cy="292553"/>
          </a:xfrm>
          <a:prstGeom prst="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9" name="TextBox 8">
            <a:extLst>
              <a:ext uri="{FF2B5EF4-FFF2-40B4-BE49-F238E27FC236}">
                <a16:creationId xmlns:a16="http://schemas.microsoft.com/office/drawing/2014/main" id="{F94E3AFA-6195-4ADA-83FB-46BD45E35600}"/>
              </a:ext>
            </a:extLst>
          </p:cNvPr>
          <p:cNvSpPr txBox="1"/>
          <p:nvPr/>
        </p:nvSpPr>
        <p:spPr>
          <a:xfrm>
            <a:off x="1324148" y="4439830"/>
            <a:ext cx="2531228" cy="646331"/>
          </a:xfrm>
          <a:prstGeom prst="rect">
            <a:avLst/>
          </a:prstGeom>
          <a:noFill/>
          <a:ln w="28575">
            <a:solidFill>
              <a:schemeClr val="tx1"/>
            </a:solidFill>
          </a:ln>
        </p:spPr>
        <p:txBody>
          <a:bodyPr wrap="square" rtlCol="0">
            <a:spAutoFit/>
          </a:bodyPr>
          <a:lstStyle/>
          <a:p>
            <a:r>
              <a:rPr lang="en-US" dirty="0"/>
              <a:t>Setup </a:t>
            </a:r>
            <a:r>
              <a:rPr lang="en-US" dirty="0" err="1"/>
              <a:t>PyTorch</a:t>
            </a:r>
            <a:r>
              <a:rPr lang="en-US" dirty="0"/>
              <a:t> and Load Data</a:t>
            </a:r>
          </a:p>
        </p:txBody>
      </p:sp>
      <p:sp>
        <p:nvSpPr>
          <p:cNvPr id="11" name="Arrow: Right 10">
            <a:extLst>
              <a:ext uri="{FF2B5EF4-FFF2-40B4-BE49-F238E27FC236}">
                <a16:creationId xmlns:a16="http://schemas.microsoft.com/office/drawing/2014/main" id="{5014B8CD-5F50-4CF8-84E7-1386A48E171A}"/>
              </a:ext>
            </a:extLst>
          </p:cNvPr>
          <p:cNvSpPr/>
          <p:nvPr/>
        </p:nvSpPr>
        <p:spPr>
          <a:xfrm>
            <a:off x="6721009" y="5850605"/>
            <a:ext cx="496985" cy="292553"/>
          </a:xfrm>
          <a:prstGeom prst="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17" name="TextBox 16">
            <a:extLst>
              <a:ext uri="{FF2B5EF4-FFF2-40B4-BE49-F238E27FC236}">
                <a16:creationId xmlns:a16="http://schemas.microsoft.com/office/drawing/2014/main" id="{60C118B4-FAC9-4549-AEED-142EA70D22C8}"/>
              </a:ext>
            </a:extLst>
          </p:cNvPr>
          <p:cNvSpPr txBox="1"/>
          <p:nvPr/>
        </p:nvSpPr>
        <p:spPr>
          <a:xfrm>
            <a:off x="4889390" y="3331833"/>
            <a:ext cx="1564989" cy="2862322"/>
          </a:xfrm>
          <a:prstGeom prst="rect">
            <a:avLst/>
          </a:prstGeom>
          <a:noFill/>
          <a:ln w="28575">
            <a:solidFill>
              <a:schemeClr val="tx1"/>
            </a:solidFill>
          </a:ln>
        </p:spPr>
        <p:txBody>
          <a:bodyPr wrap="square" rtlCol="0">
            <a:spAutoFit/>
          </a:bodyPr>
          <a:lstStyle/>
          <a:p>
            <a:r>
              <a:rPr lang="en-US" dirty="0"/>
              <a:t>Initialize the following – </a:t>
            </a:r>
          </a:p>
          <a:p>
            <a:pPr marL="285750" indent="-285750">
              <a:buFont typeface="Arial" panose="020B0604020202020204" pitchFamily="34" charset="0"/>
              <a:buChar char="•"/>
            </a:pPr>
            <a:r>
              <a:rPr lang="en-US" dirty="0"/>
              <a:t>Encoder</a:t>
            </a:r>
          </a:p>
          <a:p>
            <a:pPr marL="285750" indent="-285750">
              <a:buFont typeface="Arial" panose="020B0604020202020204" pitchFamily="34" charset="0"/>
              <a:buChar char="•"/>
            </a:pPr>
            <a:r>
              <a:rPr lang="en-US" dirty="0"/>
              <a:t>Decoder</a:t>
            </a:r>
          </a:p>
          <a:p>
            <a:pPr marL="285750" indent="-285750">
              <a:buFont typeface="Arial" panose="020B0604020202020204" pitchFamily="34" charset="0"/>
              <a:buChar char="•"/>
            </a:pPr>
            <a:r>
              <a:rPr lang="en-US" dirty="0"/>
              <a:t>Seq2Seq Model</a:t>
            </a:r>
          </a:p>
          <a:p>
            <a:pPr marL="285750" indent="-285750">
              <a:buFont typeface="Arial" panose="020B0604020202020204" pitchFamily="34" charset="0"/>
              <a:buChar char="•"/>
            </a:pPr>
            <a:r>
              <a:rPr lang="en-US" dirty="0"/>
              <a:t>Weights</a:t>
            </a:r>
          </a:p>
          <a:p>
            <a:pPr marL="285750" indent="-285750">
              <a:buFont typeface="Arial" panose="020B0604020202020204" pitchFamily="34" charset="0"/>
              <a:buChar char="•"/>
            </a:pPr>
            <a:r>
              <a:rPr lang="en-US" dirty="0"/>
              <a:t>Optimizer</a:t>
            </a:r>
          </a:p>
          <a:p>
            <a:pPr marL="285750" indent="-285750">
              <a:buFont typeface="Arial" panose="020B0604020202020204" pitchFamily="34" charset="0"/>
              <a:buChar char="•"/>
            </a:pPr>
            <a:r>
              <a:rPr lang="en-US" dirty="0"/>
              <a:t>Loss Function</a:t>
            </a:r>
          </a:p>
        </p:txBody>
      </p:sp>
      <p:sp>
        <p:nvSpPr>
          <p:cNvPr id="24" name="Arrow: Right 23">
            <a:extLst>
              <a:ext uri="{FF2B5EF4-FFF2-40B4-BE49-F238E27FC236}">
                <a16:creationId xmlns:a16="http://schemas.microsoft.com/office/drawing/2014/main" id="{04E661DB-6641-498C-AE81-606CBA35AF4A}"/>
              </a:ext>
            </a:extLst>
          </p:cNvPr>
          <p:cNvSpPr/>
          <p:nvPr/>
        </p:nvSpPr>
        <p:spPr>
          <a:xfrm rot="5400000">
            <a:off x="2396722" y="3959986"/>
            <a:ext cx="386078" cy="313359"/>
          </a:xfrm>
          <a:prstGeom prst="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26" name="Arrow: Right 25">
            <a:extLst>
              <a:ext uri="{FF2B5EF4-FFF2-40B4-BE49-F238E27FC236}">
                <a16:creationId xmlns:a16="http://schemas.microsoft.com/office/drawing/2014/main" id="{75DA2A67-EB3C-41DC-BF05-CCB8238B3498}"/>
              </a:ext>
            </a:extLst>
          </p:cNvPr>
          <p:cNvSpPr/>
          <p:nvPr/>
        </p:nvSpPr>
        <p:spPr>
          <a:xfrm rot="5400000">
            <a:off x="2394247" y="5273315"/>
            <a:ext cx="391027" cy="313359"/>
          </a:xfrm>
          <a:prstGeom prst="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28" name="TextBox 27">
            <a:extLst>
              <a:ext uri="{FF2B5EF4-FFF2-40B4-BE49-F238E27FC236}">
                <a16:creationId xmlns:a16="http://schemas.microsoft.com/office/drawing/2014/main" id="{D3796694-95F1-46F1-92B0-2B0117A454AF}"/>
              </a:ext>
            </a:extLst>
          </p:cNvPr>
          <p:cNvSpPr txBox="1"/>
          <p:nvPr/>
        </p:nvSpPr>
        <p:spPr>
          <a:xfrm>
            <a:off x="1324148" y="5773826"/>
            <a:ext cx="2531228" cy="369332"/>
          </a:xfrm>
          <a:prstGeom prst="rect">
            <a:avLst/>
          </a:prstGeom>
          <a:noFill/>
          <a:ln w="28575">
            <a:solidFill>
              <a:schemeClr val="tx1"/>
            </a:solidFill>
          </a:ln>
        </p:spPr>
        <p:txBody>
          <a:bodyPr wrap="square" rtlCol="0">
            <a:spAutoFit/>
          </a:bodyPr>
          <a:lstStyle/>
          <a:p>
            <a:r>
              <a:rPr lang="en-US" dirty="0"/>
              <a:t>Setup Seq2Seq Model </a:t>
            </a:r>
          </a:p>
        </p:txBody>
      </p:sp>
      <p:sp>
        <p:nvSpPr>
          <p:cNvPr id="32" name="TextBox 31">
            <a:extLst>
              <a:ext uri="{FF2B5EF4-FFF2-40B4-BE49-F238E27FC236}">
                <a16:creationId xmlns:a16="http://schemas.microsoft.com/office/drawing/2014/main" id="{784BA165-560E-4BF5-8653-F00B75CB46EB}"/>
              </a:ext>
            </a:extLst>
          </p:cNvPr>
          <p:cNvSpPr txBox="1"/>
          <p:nvPr/>
        </p:nvSpPr>
        <p:spPr>
          <a:xfrm>
            <a:off x="7412105" y="5775408"/>
            <a:ext cx="2612160" cy="369332"/>
          </a:xfrm>
          <a:prstGeom prst="rect">
            <a:avLst/>
          </a:prstGeom>
          <a:noFill/>
          <a:ln w="28575">
            <a:solidFill>
              <a:schemeClr val="tx1"/>
            </a:solidFill>
          </a:ln>
        </p:spPr>
        <p:txBody>
          <a:bodyPr wrap="square" rtlCol="0">
            <a:spAutoFit/>
          </a:bodyPr>
          <a:lstStyle/>
          <a:p>
            <a:pPr algn="just"/>
            <a:r>
              <a:rPr lang="en-US" dirty="0"/>
              <a:t>Train Model (10 Epochs)</a:t>
            </a:r>
          </a:p>
        </p:txBody>
      </p:sp>
      <p:sp>
        <p:nvSpPr>
          <p:cNvPr id="35" name="Arrow: Up 34">
            <a:extLst>
              <a:ext uri="{FF2B5EF4-FFF2-40B4-BE49-F238E27FC236}">
                <a16:creationId xmlns:a16="http://schemas.microsoft.com/office/drawing/2014/main" id="{B0762A6E-B592-4EFB-9FF9-0147CC848395}"/>
              </a:ext>
            </a:extLst>
          </p:cNvPr>
          <p:cNvSpPr/>
          <p:nvPr/>
        </p:nvSpPr>
        <p:spPr>
          <a:xfrm>
            <a:off x="8427821" y="5234480"/>
            <a:ext cx="313359" cy="391028"/>
          </a:xfrm>
          <a:prstGeom prst="up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37" name="TextBox 36">
            <a:extLst>
              <a:ext uri="{FF2B5EF4-FFF2-40B4-BE49-F238E27FC236}">
                <a16:creationId xmlns:a16="http://schemas.microsoft.com/office/drawing/2014/main" id="{D5939815-FF46-45EE-8185-1637B722864A}"/>
              </a:ext>
            </a:extLst>
          </p:cNvPr>
          <p:cNvSpPr txBox="1"/>
          <p:nvPr/>
        </p:nvSpPr>
        <p:spPr>
          <a:xfrm>
            <a:off x="7412105" y="4439829"/>
            <a:ext cx="2612160" cy="646331"/>
          </a:xfrm>
          <a:prstGeom prst="rect">
            <a:avLst/>
          </a:prstGeom>
          <a:noFill/>
          <a:ln w="28575">
            <a:solidFill>
              <a:schemeClr val="tx1"/>
            </a:solidFill>
          </a:ln>
        </p:spPr>
        <p:txBody>
          <a:bodyPr wrap="square" rtlCol="0">
            <a:spAutoFit/>
          </a:bodyPr>
          <a:lstStyle/>
          <a:p>
            <a:r>
              <a:rPr lang="en-US" dirty="0"/>
              <a:t>Evaluate model on Loss Criterion</a:t>
            </a:r>
          </a:p>
        </p:txBody>
      </p:sp>
      <p:sp>
        <p:nvSpPr>
          <p:cNvPr id="39" name="Arrow: Up 38">
            <a:extLst>
              <a:ext uri="{FF2B5EF4-FFF2-40B4-BE49-F238E27FC236}">
                <a16:creationId xmlns:a16="http://schemas.microsoft.com/office/drawing/2014/main" id="{68E4E88B-0536-4ECC-812B-E5FF138ED488}"/>
              </a:ext>
            </a:extLst>
          </p:cNvPr>
          <p:cNvSpPr/>
          <p:nvPr/>
        </p:nvSpPr>
        <p:spPr>
          <a:xfrm>
            <a:off x="8427822" y="3927992"/>
            <a:ext cx="313358" cy="391028"/>
          </a:xfrm>
          <a:prstGeom prst="up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41" name="TextBox 40">
            <a:extLst>
              <a:ext uri="{FF2B5EF4-FFF2-40B4-BE49-F238E27FC236}">
                <a16:creationId xmlns:a16="http://schemas.microsoft.com/office/drawing/2014/main" id="{87D8521C-24D9-4955-8F86-FD3D58FAE1FE}"/>
              </a:ext>
            </a:extLst>
          </p:cNvPr>
          <p:cNvSpPr txBox="1"/>
          <p:nvPr/>
        </p:nvSpPr>
        <p:spPr>
          <a:xfrm>
            <a:off x="7412105" y="3000431"/>
            <a:ext cx="2612160" cy="646331"/>
          </a:xfrm>
          <a:prstGeom prst="rect">
            <a:avLst/>
          </a:prstGeom>
          <a:noFill/>
          <a:ln w="28575">
            <a:solidFill>
              <a:schemeClr val="tx1"/>
            </a:solidFill>
          </a:ln>
        </p:spPr>
        <p:txBody>
          <a:bodyPr wrap="square" rtlCol="0">
            <a:spAutoFit/>
          </a:bodyPr>
          <a:lstStyle/>
          <a:p>
            <a:pPr algn="just"/>
            <a:r>
              <a:rPr lang="en-US" dirty="0"/>
              <a:t>Evaluate model absolute match Accuracy</a:t>
            </a:r>
          </a:p>
        </p:txBody>
      </p:sp>
      <p:sp>
        <p:nvSpPr>
          <p:cNvPr id="42" name="TextBox 41">
            <a:extLst>
              <a:ext uri="{FF2B5EF4-FFF2-40B4-BE49-F238E27FC236}">
                <a16:creationId xmlns:a16="http://schemas.microsoft.com/office/drawing/2014/main" id="{80526559-A512-46A5-A21F-D6033421983D}"/>
              </a:ext>
            </a:extLst>
          </p:cNvPr>
          <p:cNvSpPr txBox="1"/>
          <p:nvPr/>
        </p:nvSpPr>
        <p:spPr>
          <a:xfrm>
            <a:off x="838200" y="1434356"/>
            <a:ext cx="8700117" cy="1200329"/>
          </a:xfrm>
          <a:prstGeom prst="rect">
            <a:avLst/>
          </a:prstGeom>
          <a:noFill/>
        </p:spPr>
        <p:txBody>
          <a:bodyPr wrap="square" rtlCol="0">
            <a:spAutoFit/>
          </a:bodyPr>
          <a:lstStyle/>
          <a:p>
            <a:r>
              <a:rPr lang="en-US" dirty="0"/>
              <a:t>I built a Seq2Seq models using </a:t>
            </a:r>
            <a:r>
              <a:rPr lang="en-US" dirty="0" err="1"/>
              <a:t>Pytorch</a:t>
            </a:r>
            <a:r>
              <a:rPr lang="en-US" dirty="0"/>
              <a:t> and </a:t>
            </a:r>
            <a:r>
              <a:rPr lang="en-US" dirty="0" err="1"/>
              <a:t>Torchtext</a:t>
            </a:r>
            <a:r>
              <a:rPr lang="en-US" dirty="0"/>
              <a:t>. I have compared RNNs with and without attention.</a:t>
            </a:r>
          </a:p>
          <a:p>
            <a:r>
              <a:rPr lang="en-US" dirty="0"/>
              <a:t>The REST API will take a factorized polynomial as input and give the expanded form as output as shown in the examples.</a:t>
            </a:r>
          </a:p>
        </p:txBody>
      </p:sp>
      <p:sp>
        <p:nvSpPr>
          <p:cNvPr id="3" name="Arrow: Left 2">
            <a:extLst>
              <a:ext uri="{FF2B5EF4-FFF2-40B4-BE49-F238E27FC236}">
                <a16:creationId xmlns:a16="http://schemas.microsoft.com/office/drawing/2014/main" id="{5FC54A35-18D9-43FD-82DA-E5AE61070261}"/>
              </a:ext>
            </a:extLst>
          </p:cNvPr>
          <p:cNvSpPr/>
          <p:nvPr/>
        </p:nvSpPr>
        <p:spPr>
          <a:xfrm>
            <a:off x="4050067" y="2983939"/>
            <a:ext cx="3167927" cy="2925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3544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1D98CAC-3EFF-4342-BD5A-6C0E8CAB4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4006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E3B584-8F18-4F5A-9649-76F8DC5B2AE1}"/>
              </a:ext>
            </a:extLst>
          </p:cNvPr>
          <p:cNvSpPr>
            <a:spLocks noGrp="1"/>
          </p:cNvSpPr>
          <p:nvPr>
            <p:ph type="ctrTitle"/>
          </p:nvPr>
        </p:nvSpPr>
        <p:spPr>
          <a:xfrm>
            <a:off x="838200" y="914402"/>
            <a:ext cx="10515600" cy="2659957"/>
          </a:xfrm>
        </p:spPr>
        <p:txBody>
          <a:bodyPr>
            <a:normAutofit/>
          </a:bodyPr>
          <a:lstStyle/>
          <a:p>
            <a:br>
              <a:rPr lang="en-US" sz="4400" b="1">
                <a:solidFill>
                  <a:srgbClr val="FFFFFF"/>
                </a:solidFill>
              </a:rPr>
            </a:br>
            <a:br>
              <a:rPr lang="en-US" sz="4400" b="1">
                <a:solidFill>
                  <a:srgbClr val="FFFFFF"/>
                </a:solidFill>
              </a:rPr>
            </a:br>
            <a:br>
              <a:rPr lang="en-US" sz="4400" b="1">
                <a:solidFill>
                  <a:srgbClr val="FFFFFF"/>
                </a:solidFill>
              </a:rPr>
            </a:br>
            <a:r>
              <a:rPr lang="en-US" sz="4400" b="1">
                <a:solidFill>
                  <a:srgbClr val="FFFFFF"/>
                </a:solidFill>
              </a:rPr>
              <a:t>Thank You</a:t>
            </a:r>
          </a:p>
        </p:txBody>
      </p:sp>
      <p:sp>
        <p:nvSpPr>
          <p:cNvPr id="9" name="Title 1">
            <a:extLst>
              <a:ext uri="{FF2B5EF4-FFF2-40B4-BE49-F238E27FC236}">
                <a16:creationId xmlns:a16="http://schemas.microsoft.com/office/drawing/2014/main" id="{47C6BFBE-B7B1-4FD0-B39B-5BD367DE1A7E}"/>
              </a:ext>
            </a:extLst>
          </p:cNvPr>
          <p:cNvSpPr txBox="1">
            <a:spLocks/>
          </p:cNvSpPr>
          <p:nvPr/>
        </p:nvSpPr>
        <p:spPr>
          <a:xfrm>
            <a:off x="838200" y="4368800"/>
            <a:ext cx="10515600" cy="1390650"/>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000" b="1" dirty="0"/>
              <a:t>Questions?</a:t>
            </a:r>
          </a:p>
        </p:txBody>
      </p:sp>
    </p:spTree>
    <p:extLst>
      <p:ext uri="{BB962C8B-B14F-4D97-AF65-F5344CB8AC3E}">
        <p14:creationId xmlns:p14="http://schemas.microsoft.com/office/powerpoint/2010/main" val="2332849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244</Words>
  <Application>Microsoft Office PowerPoint</Application>
  <PresentationFormat>Widescreen</PresentationFormat>
  <Paragraphs>36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Text Analytics Project</vt:lpstr>
      <vt:lpstr>PowerPoint Presentation</vt:lpstr>
      <vt:lpstr>Project Flow</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Analytics Project</dc:title>
  <dc:creator>Srividya Ganapathi</dc:creator>
  <cp:lastModifiedBy>Srividya Ganapathi</cp:lastModifiedBy>
  <cp:revision>4</cp:revision>
  <dcterms:created xsi:type="dcterms:W3CDTF">2020-11-19T02:13:34Z</dcterms:created>
  <dcterms:modified xsi:type="dcterms:W3CDTF">2020-11-19T17:55:03Z</dcterms:modified>
</cp:coreProperties>
</file>